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Open Sauce" panose="020B0604020202020204" charset="0"/>
      <p:regular r:id="rId7"/>
    </p:embeddedFont>
    <p:embeddedFont>
      <p:font typeface="Open Sauce Bold Italics" panose="020B0604020202020204" charset="0"/>
      <p:regular r:id="rId8"/>
    </p:embeddedFont>
    <p:embeddedFont>
      <p:font typeface="Open Sauce Heavy" panose="020B0604020202020204" charset="0"/>
      <p:regular r:id="rId9"/>
    </p:embeddedFont>
    <p:embeddedFont>
      <p:font typeface="Open Sauce Italics" panose="020B0604020202020204" charset="0"/>
      <p:regular r:id="rId10"/>
    </p:embeddedFont>
    <p:embeddedFont>
      <p:font typeface="Open Sauce Medium" panose="020B0604020202020204" charset="0"/>
      <p:regular r:id="rId11"/>
    </p:embeddedFont>
    <p:embeddedFont>
      <p:font typeface="Open Sauce Semi-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7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144000" y="207708"/>
            <a:ext cx="9144000" cy="10079292"/>
          </a:xfrm>
          <a:custGeom>
            <a:avLst/>
            <a:gdLst/>
            <a:ahLst/>
            <a:cxnLst/>
            <a:rect l="l" t="t" r="r" b="b"/>
            <a:pathLst>
              <a:path w="9144000" h="10079292">
                <a:moveTo>
                  <a:pt x="0" y="0"/>
                </a:moveTo>
                <a:lnTo>
                  <a:pt x="9144000" y="0"/>
                </a:lnTo>
                <a:lnTo>
                  <a:pt x="9144000" y="10079292"/>
                </a:lnTo>
                <a:lnTo>
                  <a:pt x="0" y="10079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4142574" y="634055"/>
            <a:ext cx="885962" cy="448211"/>
          </a:xfrm>
          <a:custGeom>
            <a:avLst/>
            <a:gdLst/>
            <a:ahLst/>
            <a:cxnLst/>
            <a:rect l="l" t="t" r="r" b="b"/>
            <a:pathLst>
              <a:path w="885962" h="448211">
                <a:moveTo>
                  <a:pt x="0" y="0"/>
                </a:moveTo>
                <a:lnTo>
                  <a:pt x="885962" y="0"/>
                </a:lnTo>
                <a:lnTo>
                  <a:pt x="88596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1320622" y="1279043"/>
            <a:ext cx="2395378" cy="874559"/>
          </a:xfrm>
          <a:custGeom>
            <a:avLst/>
            <a:gdLst/>
            <a:ahLst/>
            <a:cxnLst/>
            <a:rect l="l" t="t" r="r" b="b"/>
            <a:pathLst>
              <a:path w="2395378" h="874559">
                <a:moveTo>
                  <a:pt x="0" y="0"/>
                </a:moveTo>
                <a:lnTo>
                  <a:pt x="2395378" y="0"/>
                </a:lnTo>
                <a:lnTo>
                  <a:pt x="239537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4361330" y="1497682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1181233" y="2792375"/>
            <a:ext cx="1659519" cy="204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406" i="1" spc="-41">
                <a:solidFill>
                  <a:srgbClr val="F8F8F8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Fechamento 05/05</a:t>
            </a:r>
          </a:p>
        </p:txBody>
      </p:sp>
      <p:sp>
        <p:nvSpPr>
          <p:cNvPr id="8" name="Freeform 8"/>
          <p:cNvSpPr/>
          <p:nvPr/>
        </p:nvSpPr>
        <p:spPr>
          <a:xfrm>
            <a:off x="10664354" y="2995365"/>
            <a:ext cx="4145426" cy="2153601"/>
          </a:xfrm>
          <a:custGeom>
            <a:avLst/>
            <a:gdLst/>
            <a:ahLst/>
            <a:cxnLst/>
            <a:rect l="l" t="t" r="r" b="b"/>
            <a:pathLst>
              <a:path w="4145426" h="2153601">
                <a:moveTo>
                  <a:pt x="0" y="0"/>
                </a:moveTo>
                <a:lnTo>
                  <a:pt x="4145426" y="0"/>
                </a:lnTo>
                <a:lnTo>
                  <a:pt x="414542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571078" y="2427348"/>
            <a:ext cx="7873471" cy="2119276"/>
          </a:xfrm>
          <a:custGeom>
            <a:avLst/>
            <a:gdLst/>
            <a:ahLst/>
            <a:cxnLst/>
            <a:rect l="l" t="t" r="r" b="b"/>
            <a:pathLst>
              <a:path w="7873471" h="2119276">
                <a:moveTo>
                  <a:pt x="0" y="0"/>
                </a:moveTo>
                <a:lnTo>
                  <a:pt x="7873471" y="0"/>
                </a:lnTo>
                <a:lnTo>
                  <a:pt x="7873471" y="2119276"/>
                </a:lnTo>
                <a:lnTo>
                  <a:pt x="0" y="21192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835832" y="1455817"/>
            <a:ext cx="5412568" cy="1332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89"/>
              </a:lnSpc>
            </a:pPr>
            <a:r>
              <a:rPr lang="en-US" sz="10089" b="1" spc="-403" dirty="0">
                <a:solidFill>
                  <a:srgbClr val="F8F8F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Tenha 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315" y="4159667"/>
            <a:ext cx="5772371" cy="141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4"/>
              </a:lnSpc>
            </a:pPr>
            <a:r>
              <a:rPr lang="en-US" sz="10714" b="1" spc="-428">
                <a:solidFill>
                  <a:srgbClr val="F8F8F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na palma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5281" y="5537305"/>
            <a:ext cx="6875819" cy="133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9"/>
              </a:lnSpc>
            </a:pPr>
            <a:r>
              <a:rPr lang="en-US" sz="10089" b="1" spc="-403">
                <a:solidFill>
                  <a:srgbClr val="F8F8F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da sua mão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7467" y="7204001"/>
            <a:ext cx="4336155" cy="150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0"/>
              </a:lnSpc>
            </a:pPr>
            <a:r>
              <a:rPr lang="en-US" sz="3291" spc="-98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Acompanhe sua fatura</a:t>
            </a:r>
          </a:p>
          <a:p>
            <a:pPr algn="l">
              <a:lnSpc>
                <a:spcPts val="3950"/>
              </a:lnSpc>
            </a:pPr>
            <a:r>
              <a:rPr lang="en-US" sz="3291" spc="-98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de forma rápida,</a:t>
            </a:r>
          </a:p>
          <a:p>
            <a:pPr algn="l">
              <a:lnSpc>
                <a:spcPts val="3950"/>
              </a:lnSpc>
            </a:pPr>
            <a:r>
              <a:rPr lang="en-US" sz="3291" spc="-98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simples e segura.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51406" y="2395526"/>
            <a:ext cx="2223492" cy="32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 i="1" spc="-69">
                <a:solidFill>
                  <a:srgbClr val="F8F8F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Fatura atual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04623" y="3490710"/>
            <a:ext cx="1283825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476" b="1" i="1" spc="-43">
                <a:solidFill>
                  <a:srgbClr val="292B4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Total da fatura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88282" y="3830971"/>
            <a:ext cx="2202285" cy="46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3067" b="1" i="1" spc="-91">
                <a:solidFill>
                  <a:srgbClr val="0563FC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R$ 1.986,45</a:t>
            </a:r>
          </a:p>
        </p:txBody>
      </p:sp>
      <p:sp>
        <p:nvSpPr>
          <p:cNvPr id="17" name="TextBox 17"/>
          <p:cNvSpPr txBox="1"/>
          <p:nvPr/>
        </p:nvSpPr>
        <p:spPr>
          <a:xfrm rot="305859">
            <a:off x="10481718" y="7255920"/>
            <a:ext cx="2038733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476" spc="-43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Próximos vencimentos</a:t>
            </a:r>
          </a:p>
        </p:txBody>
      </p:sp>
      <p:sp>
        <p:nvSpPr>
          <p:cNvPr id="18" name="TextBox 18"/>
          <p:cNvSpPr txBox="1"/>
          <p:nvPr/>
        </p:nvSpPr>
        <p:spPr>
          <a:xfrm rot="432421">
            <a:off x="10219965" y="9008552"/>
            <a:ext cx="1517350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Parcela de compras</a:t>
            </a:r>
          </a:p>
        </p:txBody>
      </p:sp>
      <p:sp>
        <p:nvSpPr>
          <p:cNvPr id="19" name="TextBox 19"/>
          <p:cNvSpPr txBox="1"/>
          <p:nvPr/>
        </p:nvSpPr>
        <p:spPr>
          <a:xfrm rot="89648">
            <a:off x="10967600" y="4439543"/>
            <a:ext cx="1614801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476" i="1" spc="-43">
                <a:solidFill>
                  <a:srgbClr val="A6A6A6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Vencimento 15/05</a:t>
            </a:r>
          </a:p>
        </p:txBody>
      </p:sp>
      <p:sp>
        <p:nvSpPr>
          <p:cNvPr id="20" name="TextBox 20"/>
          <p:cNvSpPr txBox="1"/>
          <p:nvPr/>
        </p:nvSpPr>
        <p:spPr>
          <a:xfrm rot="142382">
            <a:off x="10780898" y="5313072"/>
            <a:ext cx="1546426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476" i="1" spc="-43">
                <a:solidFill>
                  <a:srgbClr val="F8F8F8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Resumo da fatura</a:t>
            </a:r>
          </a:p>
        </p:txBody>
      </p:sp>
      <p:sp>
        <p:nvSpPr>
          <p:cNvPr id="21" name="TextBox 21"/>
          <p:cNvSpPr txBox="1"/>
          <p:nvPr/>
        </p:nvSpPr>
        <p:spPr>
          <a:xfrm rot="195117">
            <a:off x="10593812" y="6433118"/>
            <a:ext cx="1543308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Outros lançamentos</a:t>
            </a:r>
          </a:p>
        </p:txBody>
      </p:sp>
      <p:sp>
        <p:nvSpPr>
          <p:cNvPr id="22" name="TextBox 22"/>
          <p:cNvSpPr txBox="1"/>
          <p:nvPr/>
        </p:nvSpPr>
        <p:spPr>
          <a:xfrm rot="358593">
            <a:off x="10302538" y="8331377"/>
            <a:ext cx="1125076" cy="1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39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Próxima fatura</a:t>
            </a:r>
          </a:p>
        </p:txBody>
      </p:sp>
      <p:sp>
        <p:nvSpPr>
          <p:cNvPr id="23" name="TextBox 23"/>
          <p:cNvSpPr txBox="1"/>
          <p:nvPr/>
        </p:nvSpPr>
        <p:spPr>
          <a:xfrm rot="358593">
            <a:off x="12714772" y="8681137"/>
            <a:ext cx="1046652" cy="204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406" spc="-41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R$ 2.043,20</a:t>
            </a:r>
          </a:p>
        </p:txBody>
      </p:sp>
      <p:sp>
        <p:nvSpPr>
          <p:cNvPr id="24" name="TextBox 24"/>
          <p:cNvSpPr txBox="1"/>
          <p:nvPr/>
        </p:nvSpPr>
        <p:spPr>
          <a:xfrm rot="358593">
            <a:off x="12716397" y="9358875"/>
            <a:ext cx="884073" cy="204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406" spc="-41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R$ 280,75</a:t>
            </a:r>
          </a:p>
        </p:txBody>
      </p:sp>
      <p:sp>
        <p:nvSpPr>
          <p:cNvPr id="25" name="TextBox 25"/>
          <p:cNvSpPr txBox="1"/>
          <p:nvPr/>
        </p:nvSpPr>
        <p:spPr>
          <a:xfrm rot="253125">
            <a:off x="12822151" y="7993902"/>
            <a:ext cx="1046652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476" spc="-43">
                <a:solidFill>
                  <a:srgbClr val="48B608"/>
                </a:solidFill>
                <a:latin typeface="Open Sauce"/>
                <a:ea typeface="Open Sauce"/>
                <a:cs typeface="Open Sauce"/>
                <a:sym typeface="Open Sauce"/>
              </a:rPr>
              <a:t>R$ 1.986,45</a:t>
            </a:r>
          </a:p>
        </p:txBody>
      </p:sp>
      <p:sp>
        <p:nvSpPr>
          <p:cNvPr id="26" name="TextBox 26"/>
          <p:cNvSpPr txBox="1"/>
          <p:nvPr/>
        </p:nvSpPr>
        <p:spPr>
          <a:xfrm rot="142382">
            <a:off x="10703881" y="5755376"/>
            <a:ext cx="1231034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Compras à vista</a:t>
            </a:r>
          </a:p>
        </p:txBody>
      </p:sp>
      <p:sp>
        <p:nvSpPr>
          <p:cNvPr id="27" name="TextBox 27"/>
          <p:cNvSpPr txBox="1"/>
          <p:nvPr/>
        </p:nvSpPr>
        <p:spPr>
          <a:xfrm rot="195117">
            <a:off x="10678077" y="6086719"/>
            <a:ext cx="1153527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Parcelamentos</a:t>
            </a:r>
          </a:p>
        </p:txBody>
      </p:sp>
      <p:sp>
        <p:nvSpPr>
          <p:cNvPr id="28" name="TextBox 28"/>
          <p:cNvSpPr txBox="1"/>
          <p:nvPr/>
        </p:nvSpPr>
        <p:spPr>
          <a:xfrm rot="142382">
            <a:off x="13198607" y="5875863"/>
            <a:ext cx="896720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R$ 1.256,30</a:t>
            </a:r>
          </a:p>
        </p:txBody>
      </p:sp>
      <p:sp>
        <p:nvSpPr>
          <p:cNvPr id="29" name="TextBox 29"/>
          <p:cNvSpPr txBox="1"/>
          <p:nvPr/>
        </p:nvSpPr>
        <p:spPr>
          <a:xfrm rot="253125">
            <a:off x="10412931" y="7668112"/>
            <a:ext cx="902138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Fatura atual</a:t>
            </a:r>
          </a:p>
        </p:txBody>
      </p:sp>
      <p:sp>
        <p:nvSpPr>
          <p:cNvPr id="30" name="TextBox 30"/>
          <p:cNvSpPr txBox="1"/>
          <p:nvPr/>
        </p:nvSpPr>
        <p:spPr>
          <a:xfrm rot="195117">
            <a:off x="13198589" y="6572638"/>
            <a:ext cx="865501" cy="204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406" i="1" spc="-41">
                <a:solidFill>
                  <a:srgbClr val="F8F8F8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R$ 129,00</a:t>
            </a:r>
          </a:p>
        </p:txBody>
      </p:sp>
      <p:sp>
        <p:nvSpPr>
          <p:cNvPr id="31" name="TextBox 31"/>
          <p:cNvSpPr txBox="1"/>
          <p:nvPr/>
        </p:nvSpPr>
        <p:spPr>
          <a:xfrm rot="142382">
            <a:off x="13226948" y="6207202"/>
            <a:ext cx="741519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i="1" spc="-37">
                <a:solidFill>
                  <a:srgbClr val="F8F8F8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R$ 601,15</a:t>
            </a:r>
          </a:p>
        </p:txBody>
      </p:sp>
      <p:sp>
        <p:nvSpPr>
          <p:cNvPr id="32" name="TextBox 32"/>
          <p:cNvSpPr txBox="1"/>
          <p:nvPr/>
        </p:nvSpPr>
        <p:spPr>
          <a:xfrm rot="358593">
            <a:off x="10279289" y="8556715"/>
            <a:ext cx="913614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>
                <a:solidFill>
                  <a:srgbClr val="A6A6A6"/>
                </a:solidFill>
                <a:latin typeface="Open Sauce"/>
                <a:ea typeface="Open Sauce"/>
                <a:cs typeface="Open Sauce"/>
                <a:sym typeface="Open Sauce"/>
              </a:rPr>
              <a:t>15/09/2024</a:t>
            </a:r>
          </a:p>
        </p:txBody>
      </p:sp>
      <p:sp>
        <p:nvSpPr>
          <p:cNvPr id="33" name="TextBox 33"/>
          <p:cNvSpPr txBox="1"/>
          <p:nvPr/>
        </p:nvSpPr>
        <p:spPr>
          <a:xfrm rot="358593">
            <a:off x="10198922" y="9204331"/>
            <a:ext cx="913614" cy="18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37">
                <a:solidFill>
                  <a:srgbClr val="A6A6A6"/>
                </a:solidFill>
                <a:latin typeface="Open Sauce"/>
                <a:ea typeface="Open Sauce"/>
                <a:cs typeface="Open Sauce"/>
                <a:sym typeface="Open Sauce"/>
              </a:rPr>
              <a:t>15/05/2024</a:t>
            </a:r>
          </a:p>
        </p:txBody>
      </p:sp>
      <p:sp>
        <p:nvSpPr>
          <p:cNvPr id="34" name="TextBox 34"/>
          <p:cNvSpPr txBox="1"/>
          <p:nvPr/>
        </p:nvSpPr>
        <p:spPr>
          <a:xfrm rot="253125">
            <a:off x="10413013" y="7909085"/>
            <a:ext cx="893879" cy="18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4"/>
              </a:lnSpc>
            </a:pPr>
            <a:r>
              <a:rPr lang="en-US" sz="1195" i="1" spc="-35">
                <a:solidFill>
                  <a:srgbClr val="A6A6A6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15/08/2024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16075" y="831078"/>
            <a:ext cx="322225" cy="1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i="1" spc="-39">
                <a:solidFill>
                  <a:srgbClr val="F8F8F8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9:41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4000">
        <p159:morph option="byObject"/>
      </p:transition>
    </mc:Choice>
    <mc:Fallback>
      <p:transition spd="slow" advTm="4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4779818" y="3421712"/>
            <a:ext cx="13508182" cy="6865288"/>
          </a:xfrm>
          <a:custGeom>
            <a:avLst/>
            <a:gdLst/>
            <a:ahLst/>
            <a:cxnLst/>
            <a:rect l="l" t="t" r="r" b="b"/>
            <a:pathLst>
              <a:path w="13508182" h="6865288">
                <a:moveTo>
                  <a:pt x="0" y="0"/>
                </a:moveTo>
                <a:lnTo>
                  <a:pt x="13508182" y="0"/>
                </a:lnTo>
                <a:lnTo>
                  <a:pt x="13508182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8706488" y="207708"/>
            <a:ext cx="7623646" cy="10079292"/>
          </a:xfrm>
          <a:custGeom>
            <a:avLst/>
            <a:gdLst/>
            <a:ahLst/>
            <a:cxnLst/>
            <a:rect l="l" t="t" r="r" b="b"/>
            <a:pathLst>
              <a:path w="7623646" h="10079292">
                <a:moveTo>
                  <a:pt x="0" y="0"/>
                </a:moveTo>
                <a:lnTo>
                  <a:pt x="7623646" y="0"/>
                </a:lnTo>
                <a:lnTo>
                  <a:pt x="7623646" y="10079292"/>
                </a:lnTo>
                <a:lnTo>
                  <a:pt x="0" y="10079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4361330" y="634055"/>
            <a:ext cx="1323474" cy="448211"/>
          </a:xfrm>
          <a:custGeom>
            <a:avLst/>
            <a:gdLst/>
            <a:ahLst/>
            <a:cxnLst/>
            <a:rect l="l" t="t" r="r" b="b"/>
            <a:pathLst>
              <a:path w="1323474" h="448211">
                <a:moveTo>
                  <a:pt x="0" y="0"/>
                </a:moveTo>
                <a:lnTo>
                  <a:pt x="1323474" y="0"/>
                </a:lnTo>
                <a:lnTo>
                  <a:pt x="132347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420696" y="8367820"/>
            <a:ext cx="6616572" cy="1780961"/>
          </a:xfrm>
          <a:custGeom>
            <a:avLst/>
            <a:gdLst/>
            <a:ahLst/>
            <a:cxnLst/>
            <a:rect l="l" t="t" r="r" b="b"/>
            <a:pathLst>
              <a:path w="6616572" h="1780961">
                <a:moveTo>
                  <a:pt x="0" y="0"/>
                </a:moveTo>
                <a:lnTo>
                  <a:pt x="6616572" y="0"/>
                </a:lnTo>
                <a:lnTo>
                  <a:pt x="6616572" y="1780960"/>
                </a:lnTo>
                <a:lnTo>
                  <a:pt x="0" y="178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767766" y="1427795"/>
            <a:ext cx="6269502" cy="210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5"/>
              </a:lnSpc>
            </a:pPr>
            <a:r>
              <a:rPr lang="en-US" sz="7854" b="1" spc="-314">
                <a:solidFill>
                  <a:srgbClr val="F8F8F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Acompanhe</a:t>
            </a:r>
          </a:p>
          <a:p>
            <a:pPr algn="l">
              <a:lnSpc>
                <a:spcPts val="8245"/>
              </a:lnSpc>
            </a:pPr>
            <a:r>
              <a:rPr lang="en-US" sz="7854" b="1" spc="-314">
                <a:solidFill>
                  <a:srgbClr val="F8F8F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sua fatura 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9814" y="3491130"/>
            <a:ext cx="6064707" cy="210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5"/>
              </a:lnSpc>
            </a:pPr>
            <a:r>
              <a:rPr lang="en-US" sz="7854" b="1" spc="-314">
                <a:solidFill>
                  <a:srgbClr val="48B20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forma rápida</a:t>
            </a:r>
          </a:p>
          <a:p>
            <a:pPr algn="l">
              <a:lnSpc>
                <a:spcPts val="8245"/>
              </a:lnSpc>
            </a:pPr>
            <a:r>
              <a:rPr lang="en-US" sz="7854" b="1" spc="-314">
                <a:solidFill>
                  <a:srgbClr val="48B20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 fácil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1824" y="5943455"/>
            <a:ext cx="4863737" cy="168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3"/>
              </a:lnSpc>
            </a:pPr>
            <a:r>
              <a:rPr lang="en-US" sz="3403" b="1" spc="-101">
                <a:solidFill>
                  <a:srgbClr val="F8F8F8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Visualize suas compras</a:t>
            </a:r>
          </a:p>
          <a:p>
            <a:pPr algn="l">
              <a:lnSpc>
                <a:spcPts val="4593"/>
              </a:lnSpc>
            </a:pPr>
            <a:r>
              <a:rPr lang="en-US" sz="3403" b="1" spc="-101">
                <a:solidFill>
                  <a:srgbClr val="F8F8F8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 datas de pagamento</a:t>
            </a:r>
          </a:p>
          <a:p>
            <a:pPr algn="l">
              <a:lnSpc>
                <a:spcPts val="4593"/>
              </a:lnSpc>
            </a:pPr>
            <a:r>
              <a:rPr lang="en-US" sz="3403" b="1" spc="-101">
                <a:solidFill>
                  <a:srgbClr val="F8F8F8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em tempo real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86789" y="880828"/>
            <a:ext cx="388238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b="1" i="1" spc="-46">
                <a:solidFill>
                  <a:srgbClr val="F8F8F8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9:41</a:t>
            </a:r>
          </a:p>
        </p:txBody>
      </p:sp>
      <p:sp>
        <p:nvSpPr>
          <p:cNvPr id="11" name="TextBox 11"/>
          <p:cNvSpPr txBox="1"/>
          <p:nvPr/>
        </p:nvSpPr>
        <p:spPr>
          <a:xfrm rot="-121289">
            <a:off x="10883827" y="1487169"/>
            <a:ext cx="1997520" cy="37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759" b="1" i="1" spc="-82">
                <a:solidFill>
                  <a:srgbClr val="F8F8F8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Fatura atual</a:t>
            </a:r>
          </a:p>
        </p:txBody>
      </p:sp>
      <p:sp>
        <p:nvSpPr>
          <p:cNvPr id="12" name="TextBox 12"/>
          <p:cNvSpPr txBox="1"/>
          <p:nvPr/>
        </p:nvSpPr>
        <p:spPr>
          <a:xfrm rot="-121289">
            <a:off x="10827973" y="1974263"/>
            <a:ext cx="2209691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F8F8F8">
                    <a:alpha val="69804"/>
                  </a:srgbClr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Fechamento 05/05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99237" y="2938165"/>
            <a:ext cx="1638771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Total da fatura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53541" y="3343480"/>
            <a:ext cx="2813844" cy="516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3849" b="1" i="1" spc="-114">
                <a:solidFill>
                  <a:srgbClr val="0760F1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R$ 1.986,45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07134" y="4007485"/>
            <a:ext cx="2096732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>
                    <a:alpha val="60000"/>
                  </a:srgbClr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Vencimento 15/05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47420" y="4881014"/>
            <a:ext cx="1994704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Resumo da fatura</a:t>
            </a:r>
          </a:p>
        </p:txBody>
      </p:sp>
      <p:sp>
        <p:nvSpPr>
          <p:cNvPr id="17" name="TextBox 17"/>
          <p:cNvSpPr txBox="1"/>
          <p:nvPr/>
        </p:nvSpPr>
        <p:spPr>
          <a:xfrm rot="68554">
            <a:off x="10218794" y="5820782"/>
            <a:ext cx="1444919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Parcelamentos</a:t>
            </a:r>
          </a:p>
        </p:txBody>
      </p:sp>
      <p:sp>
        <p:nvSpPr>
          <p:cNvPr id="18" name="TextBox 18"/>
          <p:cNvSpPr txBox="1"/>
          <p:nvPr/>
        </p:nvSpPr>
        <p:spPr>
          <a:xfrm rot="68554">
            <a:off x="9966159" y="7125076"/>
            <a:ext cx="2587877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Próximos vencimentos</a:t>
            </a:r>
          </a:p>
        </p:txBody>
      </p:sp>
      <p:sp>
        <p:nvSpPr>
          <p:cNvPr id="19" name="TextBox 19"/>
          <p:cNvSpPr txBox="1"/>
          <p:nvPr/>
        </p:nvSpPr>
        <p:spPr>
          <a:xfrm rot="142382">
            <a:off x="9871264" y="7682318"/>
            <a:ext cx="1331325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Fatura atual</a:t>
            </a:r>
          </a:p>
        </p:txBody>
      </p:sp>
      <p:sp>
        <p:nvSpPr>
          <p:cNvPr id="20" name="TextBox 20"/>
          <p:cNvSpPr txBox="1"/>
          <p:nvPr/>
        </p:nvSpPr>
        <p:spPr>
          <a:xfrm rot="142382">
            <a:off x="13058973" y="7908231"/>
            <a:ext cx="1350224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48B208">
                    <a:alpha val="69804"/>
                  </a:srgbClr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R$ 1.986,45</a:t>
            </a:r>
          </a:p>
        </p:txBody>
      </p:sp>
      <p:sp>
        <p:nvSpPr>
          <p:cNvPr id="21" name="TextBox 21"/>
          <p:cNvSpPr txBox="1"/>
          <p:nvPr/>
        </p:nvSpPr>
        <p:spPr>
          <a:xfrm rot="142382">
            <a:off x="9734269" y="8555847"/>
            <a:ext cx="1636293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Próxima fatura</a:t>
            </a:r>
          </a:p>
        </p:txBody>
      </p:sp>
      <p:sp>
        <p:nvSpPr>
          <p:cNvPr id="22" name="TextBox 22"/>
          <p:cNvSpPr txBox="1"/>
          <p:nvPr/>
        </p:nvSpPr>
        <p:spPr>
          <a:xfrm rot="142382">
            <a:off x="9567117" y="9489619"/>
            <a:ext cx="2278051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Parcela de compras</a:t>
            </a:r>
          </a:p>
        </p:txBody>
      </p:sp>
      <p:sp>
        <p:nvSpPr>
          <p:cNvPr id="23" name="TextBox 23"/>
          <p:cNvSpPr txBox="1"/>
          <p:nvPr/>
        </p:nvSpPr>
        <p:spPr>
          <a:xfrm rot="142382">
            <a:off x="12926690" y="9700471"/>
            <a:ext cx="1183966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R$ 280,75</a:t>
            </a:r>
          </a:p>
        </p:txBody>
      </p:sp>
      <p:sp>
        <p:nvSpPr>
          <p:cNvPr id="24" name="TextBox 24"/>
          <p:cNvSpPr txBox="1"/>
          <p:nvPr/>
        </p:nvSpPr>
        <p:spPr>
          <a:xfrm rot="68554">
            <a:off x="10133461" y="6212364"/>
            <a:ext cx="1941517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Outros lançamentos</a:t>
            </a:r>
          </a:p>
        </p:txBody>
      </p:sp>
      <p:sp>
        <p:nvSpPr>
          <p:cNvPr id="25" name="TextBox 25"/>
          <p:cNvSpPr txBox="1"/>
          <p:nvPr/>
        </p:nvSpPr>
        <p:spPr>
          <a:xfrm rot="142382">
            <a:off x="12897733" y="8796820"/>
            <a:ext cx="1400753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b="1" i="1" spc="-55">
                <a:solidFill>
                  <a:srgbClr val="29324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R$ 2.043,20</a:t>
            </a:r>
          </a:p>
        </p:txBody>
      </p:sp>
      <p:sp>
        <p:nvSpPr>
          <p:cNvPr id="26" name="TextBox 26"/>
          <p:cNvSpPr txBox="1"/>
          <p:nvPr/>
        </p:nvSpPr>
        <p:spPr>
          <a:xfrm rot="68554">
            <a:off x="10271524" y="5414139"/>
            <a:ext cx="1529785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Compras à vista</a:t>
            </a:r>
          </a:p>
        </p:txBody>
      </p:sp>
      <p:sp>
        <p:nvSpPr>
          <p:cNvPr id="27" name="TextBox 27"/>
          <p:cNvSpPr txBox="1"/>
          <p:nvPr/>
        </p:nvSpPr>
        <p:spPr>
          <a:xfrm rot="68554">
            <a:off x="13463269" y="5444261"/>
            <a:ext cx="1145089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R$ 1.256,30</a:t>
            </a:r>
          </a:p>
        </p:txBody>
      </p:sp>
      <p:sp>
        <p:nvSpPr>
          <p:cNvPr id="28" name="TextBox 28"/>
          <p:cNvSpPr txBox="1"/>
          <p:nvPr/>
        </p:nvSpPr>
        <p:spPr>
          <a:xfrm rot="68554">
            <a:off x="13518573" y="6257547"/>
            <a:ext cx="972529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R$ 129,00</a:t>
            </a:r>
          </a:p>
        </p:txBody>
      </p:sp>
      <p:sp>
        <p:nvSpPr>
          <p:cNvPr id="29" name="TextBox 29"/>
          <p:cNvSpPr txBox="1"/>
          <p:nvPr/>
        </p:nvSpPr>
        <p:spPr>
          <a:xfrm rot="68554">
            <a:off x="13626194" y="5850904"/>
            <a:ext cx="926078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R$ 601,15</a:t>
            </a:r>
          </a:p>
        </p:txBody>
      </p:sp>
      <p:sp>
        <p:nvSpPr>
          <p:cNvPr id="30" name="TextBox 30"/>
          <p:cNvSpPr txBox="1"/>
          <p:nvPr/>
        </p:nvSpPr>
        <p:spPr>
          <a:xfrm rot="142382">
            <a:off x="9524850" y="9751656"/>
            <a:ext cx="1168582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>
                    <a:alpha val="60000"/>
                  </a:srgbClr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15/05/2024</a:t>
            </a:r>
          </a:p>
        </p:txBody>
      </p:sp>
      <p:sp>
        <p:nvSpPr>
          <p:cNvPr id="31" name="TextBox 31"/>
          <p:cNvSpPr txBox="1"/>
          <p:nvPr/>
        </p:nvSpPr>
        <p:spPr>
          <a:xfrm rot="142382">
            <a:off x="9846319" y="7974476"/>
            <a:ext cx="1168582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>
                    <a:alpha val="60000"/>
                  </a:srgbClr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15/05/2024</a:t>
            </a:r>
          </a:p>
        </p:txBody>
      </p:sp>
      <p:sp>
        <p:nvSpPr>
          <p:cNvPr id="32" name="TextBox 32"/>
          <p:cNvSpPr txBox="1"/>
          <p:nvPr/>
        </p:nvSpPr>
        <p:spPr>
          <a:xfrm rot="142382">
            <a:off x="9685574" y="8848005"/>
            <a:ext cx="1169624" cy="20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546" i="1" spc="-46">
                <a:solidFill>
                  <a:srgbClr val="29324B">
                    <a:alpha val="60000"/>
                  </a:srgbClr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15/06/2024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4000">
        <p159:morph option="byObject"/>
      </p:transition>
    </mc:Choice>
    <mc:Fallback>
      <p:transition spd="slow" advTm="4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942184" y="1783543"/>
            <a:ext cx="7579997" cy="363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30"/>
              </a:lnSpc>
            </a:pPr>
            <a:r>
              <a:rPr lang="en-US" sz="9078" b="1" spc="-270">
                <a:solidFill>
                  <a:srgbClr val="F8F8F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Consulte seu limite sempre </a:t>
            </a:r>
            <a:r>
              <a:rPr lang="en-US" sz="9078" b="1" spc="-270">
                <a:solidFill>
                  <a:srgbClr val="45B80B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que precisar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0895" y="6047605"/>
            <a:ext cx="5066707" cy="175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3805" spc="-37" dirty="0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Tenha </a:t>
            </a:r>
            <a:r>
              <a:rPr lang="en-US" sz="3805" spc="-37" dirty="0" err="1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controle</a:t>
            </a:r>
            <a:r>
              <a:rPr lang="en-US" sz="3805" spc="-37" dirty="0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 total do </a:t>
            </a:r>
            <a:r>
              <a:rPr lang="en-US" sz="3805" spc="-37" dirty="0" err="1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seu</a:t>
            </a:r>
            <a:r>
              <a:rPr lang="en-US" sz="3805" spc="-37" dirty="0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805" spc="-37" dirty="0" err="1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crédito</a:t>
            </a:r>
            <a:r>
              <a:rPr lang="en-US" sz="3805" spc="-37" dirty="0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 a </a:t>
            </a:r>
            <a:r>
              <a:rPr lang="en-US" sz="3805" spc="-37" dirty="0" err="1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qualquer</a:t>
            </a:r>
            <a:r>
              <a:rPr lang="en-US" sz="3805" spc="-37" dirty="0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 hora e </a:t>
            </a:r>
            <a:r>
              <a:rPr lang="en-US" sz="3805" spc="-37" dirty="0" err="1">
                <a:solidFill>
                  <a:srgbClr val="F8F8F8"/>
                </a:solidFill>
                <a:latin typeface="Open Sauce"/>
                <a:ea typeface="Open Sauce"/>
                <a:cs typeface="Open Sauce"/>
                <a:sym typeface="Open Sauce"/>
              </a:rPr>
              <a:t>lugar</a:t>
            </a:r>
            <a:endParaRPr lang="en-US" sz="3805" spc="-37" dirty="0">
              <a:solidFill>
                <a:srgbClr val="F8F8F8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8706488" y="426348"/>
            <a:ext cx="8061158" cy="9860652"/>
          </a:xfrm>
          <a:custGeom>
            <a:avLst/>
            <a:gdLst/>
            <a:ahLst/>
            <a:cxnLst/>
            <a:rect l="l" t="t" r="r" b="b"/>
            <a:pathLst>
              <a:path w="8061158" h="9860652">
                <a:moveTo>
                  <a:pt x="0" y="0"/>
                </a:moveTo>
                <a:lnTo>
                  <a:pt x="8061158" y="0"/>
                </a:lnTo>
                <a:lnTo>
                  <a:pt x="806115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0929938" y="1156710"/>
            <a:ext cx="750094" cy="290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2254" b="1" i="1" spc="-22">
                <a:solidFill>
                  <a:srgbClr val="F8F8F8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9:41</a:t>
            </a:r>
          </a:p>
        </p:txBody>
      </p:sp>
      <p:sp>
        <p:nvSpPr>
          <p:cNvPr id="7" name="Freeform 7"/>
          <p:cNvSpPr/>
          <p:nvPr/>
        </p:nvSpPr>
        <p:spPr>
          <a:xfrm>
            <a:off x="14798842" y="1071335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0664354" y="1924030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 rot="-42187">
            <a:off x="11839425" y="1954589"/>
            <a:ext cx="2835057" cy="39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838" b="1" i="1" spc="-27">
                <a:solidFill>
                  <a:srgbClr val="F8F8F8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Limite do cartão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445598" y="4919394"/>
            <a:ext cx="4582938" cy="448211"/>
          </a:xfrm>
          <a:custGeom>
            <a:avLst/>
            <a:gdLst/>
            <a:ahLst/>
            <a:cxnLst/>
            <a:rect l="l" t="t" r="r" b="b"/>
            <a:pathLst>
              <a:path w="4582938" h="448211">
                <a:moveTo>
                  <a:pt x="0" y="0"/>
                </a:moveTo>
                <a:lnTo>
                  <a:pt x="4582938" y="0"/>
                </a:lnTo>
                <a:lnTo>
                  <a:pt x="458293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715625" y="3370653"/>
            <a:ext cx="3027164" cy="290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2254" b="1" i="1" spc="-22">
                <a:solidFill>
                  <a:srgbClr val="1F263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Limite disponível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722" y="3940659"/>
            <a:ext cx="3916889" cy="720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6"/>
              </a:lnSpc>
            </a:pPr>
            <a:r>
              <a:rPr lang="en-US" sz="5273" b="1" i="1" spc="-157">
                <a:solidFill>
                  <a:srgbClr val="3CB80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R$ 3.250,00</a:t>
            </a:r>
          </a:p>
        </p:txBody>
      </p:sp>
      <p:sp>
        <p:nvSpPr>
          <p:cNvPr id="13" name="TextBox 13"/>
          <p:cNvSpPr txBox="1"/>
          <p:nvPr/>
        </p:nvSpPr>
        <p:spPr>
          <a:xfrm rot="68554">
            <a:off x="10350443" y="5533866"/>
            <a:ext cx="1704602" cy="21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740" i="1" spc="-16">
                <a:solidFill>
                  <a:srgbClr val="A6A6A6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de R$ 5.000,00</a:t>
            </a:r>
          </a:p>
        </p:txBody>
      </p:sp>
      <p:sp>
        <p:nvSpPr>
          <p:cNvPr id="14" name="TextBox 14"/>
          <p:cNvSpPr txBox="1"/>
          <p:nvPr/>
        </p:nvSpPr>
        <p:spPr>
          <a:xfrm rot="105468">
            <a:off x="10112381" y="6719120"/>
            <a:ext cx="1347178" cy="25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sz="1924" b="1" i="1" spc="-18">
                <a:solidFill>
                  <a:srgbClr val="1F263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Limite total</a:t>
            </a:r>
          </a:p>
        </p:txBody>
      </p:sp>
      <p:sp>
        <p:nvSpPr>
          <p:cNvPr id="15" name="TextBox 15"/>
          <p:cNvSpPr txBox="1"/>
          <p:nvPr/>
        </p:nvSpPr>
        <p:spPr>
          <a:xfrm rot="174023">
            <a:off x="10054055" y="7060123"/>
            <a:ext cx="1844015" cy="320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381" b="1" i="1" spc="-23">
                <a:solidFill>
                  <a:srgbClr val="1579E4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R$ 5.000,00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142574" y="6854356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TextBox 17"/>
          <p:cNvSpPr txBox="1"/>
          <p:nvPr/>
        </p:nvSpPr>
        <p:spPr>
          <a:xfrm rot="105468">
            <a:off x="9919856" y="7998705"/>
            <a:ext cx="1845509" cy="25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1986" b="1" i="1" spc="-19">
                <a:solidFill>
                  <a:srgbClr val="1F263B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Limite utilizado</a:t>
            </a:r>
          </a:p>
        </p:txBody>
      </p:sp>
      <p:sp>
        <p:nvSpPr>
          <p:cNvPr id="18" name="TextBox 18"/>
          <p:cNvSpPr txBox="1"/>
          <p:nvPr/>
        </p:nvSpPr>
        <p:spPr>
          <a:xfrm rot="174023">
            <a:off x="9865769" y="8354567"/>
            <a:ext cx="1844015" cy="331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26" b="1" i="1" spc="-24">
                <a:solidFill>
                  <a:srgbClr val="1579E4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R$ 1.750,00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923818" y="8133399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TextBox 20"/>
          <p:cNvSpPr txBox="1"/>
          <p:nvPr/>
        </p:nvSpPr>
        <p:spPr>
          <a:xfrm rot="174023">
            <a:off x="9533311" y="9364267"/>
            <a:ext cx="3018410" cy="2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863" i="1" spc="-18">
                <a:solidFill>
                  <a:srgbClr val="A6A6A6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Atualizado agora há pouco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4000">
        <p159:morph option="byObject"/>
      </p:transition>
    </mc:Choice>
    <mc:Fallback>
      <p:transition spd="slow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6311110" y="8778386"/>
            <a:ext cx="11976890" cy="1508614"/>
          </a:xfrm>
          <a:custGeom>
            <a:avLst/>
            <a:gdLst/>
            <a:ahLst/>
            <a:cxnLst/>
            <a:rect l="l" t="t" r="r" b="b"/>
            <a:pathLst>
              <a:path w="11976890" h="1508614">
                <a:moveTo>
                  <a:pt x="0" y="0"/>
                </a:moveTo>
                <a:lnTo>
                  <a:pt x="11976890" y="0"/>
                </a:lnTo>
                <a:lnTo>
                  <a:pt x="1197689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0226842" y="207708"/>
            <a:ext cx="5884536" cy="9652945"/>
          </a:xfrm>
          <a:custGeom>
            <a:avLst/>
            <a:gdLst/>
            <a:ahLst/>
            <a:cxnLst/>
            <a:rect l="l" t="t" r="r" b="b"/>
            <a:pathLst>
              <a:path w="5884536" h="9652945">
                <a:moveTo>
                  <a:pt x="0" y="0"/>
                </a:moveTo>
                <a:lnTo>
                  <a:pt x="5884536" y="0"/>
                </a:lnTo>
                <a:lnTo>
                  <a:pt x="5884536" y="9652944"/>
                </a:lnTo>
                <a:lnTo>
                  <a:pt x="0" y="965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820571" y="1307612"/>
            <a:ext cx="6346831" cy="199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8"/>
              </a:lnSpc>
            </a:pPr>
            <a:r>
              <a:rPr lang="en-US" sz="7400" b="1" spc="-220">
                <a:solidFill>
                  <a:srgbClr val="F8F8F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Controle seus gastos 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6683" y="3370787"/>
            <a:ext cx="7735586" cy="222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1"/>
              </a:lnSpc>
            </a:pPr>
            <a:r>
              <a:rPr lang="en-US" sz="8240" b="1" spc="-245">
                <a:solidFill>
                  <a:srgbClr val="42B808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acompanhe suas compras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1380" y="5989071"/>
            <a:ext cx="6265918" cy="90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70" b="1" spc="63">
                <a:solidFill>
                  <a:srgbClr val="F8F8F8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Organize seu orçamento e</a:t>
            </a:r>
          </a:p>
          <a:p>
            <a:pPr algn="l">
              <a:lnSpc>
                <a:spcPts val="3647"/>
              </a:lnSpc>
            </a:pPr>
            <a:r>
              <a:rPr lang="en-US" sz="3170" b="1" spc="63">
                <a:solidFill>
                  <a:srgbClr val="F8F8F8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evite surpresas no fim do mês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4000">
        <p159:morph option="byObject"/>
      </p:transition>
    </mc:Choice>
    <mc:Fallback>
      <p:transition spd="slow" advTm="4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7831464" y="7925691"/>
            <a:ext cx="7197072" cy="2153601"/>
          </a:xfrm>
          <a:custGeom>
            <a:avLst/>
            <a:gdLst/>
            <a:ahLst/>
            <a:cxnLst/>
            <a:rect l="l" t="t" r="r" b="b"/>
            <a:pathLst>
              <a:path w="7197072" h="2153601">
                <a:moveTo>
                  <a:pt x="0" y="0"/>
                </a:moveTo>
                <a:lnTo>
                  <a:pt x="7197072" y="0"/>
                </a:lnTo>
                <a:lnTo>
                  <a:pt x="719707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8925244" y="426348"/>
            <a:ext cx="5447024" cy="8362970"/>
          </a:xfrm>
          <a:custGeom>
            <a:avLst/>
            <a:gdLst/>
            <a:ahLst/>
            <a:cxnLst/>
            <a:rect l="l" t="t" r="r" b="b"/>
            <a:pathLst>
              <a:path w="5447024" h="8362970">
                <a:moveTo>
                  <a:pt x="0" y="0"/>
                </a:moveTo>
                <a:lnTo>
                  <a:pt x="5447024" y="0"/>
                </a:lnTo>
                <a:lnTo>
                  <a:pt x="5447024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0226842" y="4066699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0008086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9789330" y="5783021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9570574" y="6635716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864086" y="7062064"/>
            <a:ext cx="3707914" cy="1519546"/>
          </a:xfrm>
          <a:custGeom>
            <a:avLst/>
            <a:gdLst/>
            <a:ahLst/>
            <a:cxnLst/>
            <a:rect l="l" t="t" r="r" b="b"/>
            <a:pathLst>
              <a:path w="3707914" h="1519546">
                <a:moveTo>
                  <a:pt x="0" y="0"/>
                </a:moveTo>
                <a:lnTo>
                  <a:pt x="3707914" y="0"/>
                </a:lnTo>
                <a:lnTo>
                  <a:pt x="370791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1082842" y="7499343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2090451" y="7542077"/>
            <a:ext cx="2588458" cy="6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2170" spc="-21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DISPONÍVEL NO</a:t>
            </a:r>
          </a:p>
          <a:p>
            <a:pPr algn="l">
              <a:lnSpc>
                <a:spcPts val="2605"/>
              </a:lnSpc>
            </a:pPr>
            <a:r>
              <a:rPr lang="en-US" sz="2170" spc="-21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GOOGLE PLAY</a:t>
            </a:r>
          </a:p>
        </p:txBody>
      </p:sp>
      <p:sp>
        <p:nvSpPr>
          <p:cNvPr id="12" name="Freeform 12"/>
          <p:cNvSpPr/>
          <p:nvPr/>
        </p:nvSpPr>
        <p:spPr>
          <a:xfrm>
            <a:off x="4572000" y="7062064"/>
            <a:ext cx="3707914" cy="1519546"/>
          </a:xfrm>
          <a:custGeom>
            <a:avLst/>
            <a:gdLst/>
            <a:ahLst/>
            <a:cxnLst/>
            <a:rect l="l" t="t" r="r" b="b"/>
            <a:pathLst>
              <a:path w="3707914" h="1519546">
                <a:moveTo>
                  <a:pt x="0" y="0"/>
                </a:moveTo>
                <a:lnTo>
                  <a:pt x="3707914" y="0"/>
                </a:lnTo>
                <a:lnTo>
                  <a:pt x="370791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Freeform 13"/>
          <p:cNvSpPr/>
          <p:nvPr/>
        </p:nvSpPr>
        <p:spPr>
          <a:xfrm>
            <a:off x="4998574" y="7499343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713053" y="3354618"/>
            <a:ext cx="7118411" cy="1916039"/>
          </a:xfrm>
          <a:custGeom>
            <a:avLst/>
            <a:gdLst/>
            <a:ahLst/>
            <a:cxnLst/>
            <a:rect l="l" t="t" r="r" b="b"/>
            <a:pathLst>
              <a:path w="7118411" h="1916039">
                <a:moveTo>
                  <a:pt x="0" y="0"/>
                </a:moveTo>
                <a:lnTo>
                  <a:pt x="7118411" y="0"/>
                </a:lnTo>
                <a:lnTo>
                  <a:pt x="7118411" y="1916039"/>
                </a:lnTo>
                <a:lnTo>
                  <a:pt x="0" y="19160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14556709" y="4442310"/>
            <a:ext cx="2144595" cy="2144595"/>
          </a:xfrm>
          <a:custGeom>
            <a:avLst/>
            <a:gdLst/>
            <a:ahLst/>
            <a:cxnLst/>
            <a:rect l="l" t="t" r="r" b="b"/>
            <a:pathLst>
              <a:path w="2144595" h="2144595">
                <a:moveTo>
                  <a:pt x="0" y="0"/>
                </a:moveTo>
                <a:lnTo>
                  <a:pt x="2144595" y="0"/>
                </a:lnTo>
                <a:lnTo>
                  <a:pt x="2144595" y="2144595"/>
                </a:lnTo>
                <a:lnTo>
                  <a:pt x="0" y="214459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TextBox 16"/>
          <p:cNvSpPr txBox="1"/>
          <p:nvPr/>
        </p:nvSpPr>
        <p:spPr>
          <a:xfrm rot="-121289">
            <a:off x="10419003" y="1968445"/>
            <a:ext cx="2965865" cy="73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6"/>
              </a:lnSpc>
            </a:pPr>
            <a:r>
              <a:rPr lang="en-US" sz="5868" b="1" i="1" spc="-174">
                <a:solidFill>
                  <a:srgbClr val="0763F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conf</a:t>
            </a:r>
            <a:r>
              <a:rPr lang="en-US" sz="5868" b="1" i="1" spc="-174">
                <a:solidFill>
                  <a:srgbClr val="48B10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pay</a:t>
            </a:r>
          </a:p>
        </p:txBody>
      </p:sp>
      <p:sp>
        <p:nvSpPr>
          <p:cNvPr id="17" name="TextBox 17"/>
          <p:cNvSpPr txBox="1"/>
          <p:nvPr/>
        </p:nvSpPr>
        <p:spPr>
          <a:xfrm rot="-42187">
            <a:off x="10404184" y="3162760"/>
            <a:ext cx="2603879" cy="633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6"/>
              </a:lnSpc>
            </a:pPr>
            <a:r>
              <a:rPr lang="en-US" sz="2113" i="1" spc="-20">
                <a:solidFill>
                  <a:srgbClr val="FAFAFA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Tudo do seu cartão, em um só app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43655" y="4174584"/>
            <a:ext cx="1307198" cy="53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757" i="1" spc="-17">
                <a:solidFill>
                  <a:srgbClr val="FAFAFA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Acompanhe</a:t>
            </a:r>
          </a:p>
          <a:p>
            <a:pPr algn="l">
              <a:lnSpc>
                <a:spcPts val="2109"/>
              </a:lnSpc>
            </a:pPr>
            <a:r>
              <a:rPr lang="en-US" sz="1757" i="1" spc="-17">
                <a:solidFill>
                  <a:srgbClr val="FAFAFA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sua fatura</a:t>
            </a:r>
          </a:p>
        </p:txBody>
      </p:sp>
      <p:sp>
        <p:nvSpPr>
          <p:cNvPr id="19" name="TextBox 19"/>
          <p:cNvSpPr txBox="1"/>
          <p:nvPr/>
        </p:nvSpPr>
        <p:spPr>
          <a:xfrm rot="116015">
            <a:off x="10752068" y="5020779"/>
            <a:ext cx="1773767" cy="49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652" i="1" spc="-16">
                <a:solidFill>
                  <a:srgbClr val="FAFAFA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Veja os próximos vencimentos</a:t>
            </a:r>
          </a:p>
        </p:txBody>
      </p:sp>
      <p:sp>
        <p:nvSpPr>
          <p:cNvPr id="20" name="TextBox 20"/>
          <p:cNvSpPr txBox="1"/>
          <p:nvPr/>
        </p:nvSpPr>
        <p:spPr>
          <a:xfrm rot="116015">
            <a:off x="10620352" y="5861400"/>
            <a:ext cx="1490590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i="1" spc="-18">
                <a:solidFill>
                  <a:srgbClr val="FAFAFA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Monitore seus gastos</a:t>
            </a:r>
          </a:p>
        </p:txBody>
      </p:sp>
      <p:sp>
        <p:nvSpPr>
          <p:cNvPr id="21" name="TextBox 21"/>
          <p:cNvSpPr txBox="1"/>
          <p:nvPr/>
        </p:nvSpPr>
        <p:spPr>
          <a:xfrm rot="116015">
            <a:off x="10433421" y="6737715"/>
            <a:ext cx="1491562" cy="49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652" i="1" spc="-16">
                <a:solidFill>
                  <a:srgbClr val="FAFAFA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Receba avisos importantes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2086" y="1295433"/>
            <a:ext cx="6874221" cy="229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33"/>
              </a:lnSpc>
            </a:pPr>
            <a:r>
              <a:rPr lang="en-US" sz="9502" b="1" spc="-283">
                <a:solidFill>
                  <a:srgbClr val="FAFAFA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Baixe agora o app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6554" y="5108358"/>
            <a:ext cx="4427430" cy="171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849" spc="-37" dirty="0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Tenha </a:t>
            </a:r>
            <a:r>
              <a:rPr lang="en-US" sz="3849" spc="-37" dirty="0" err="1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controle</a:t>
            </a:r>
            <a:r>
              <a:rPr lang="en-US" sz="3849" spc="-37" dirty="0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 total do </a:t>
            </a:r>
            <a:r>
              <a:rPr lang="en-US" sz="3849" spc="-37" dirty="0" err="1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seu</a:t>
            </a:r>
            <a:r>
              <a:rPr lang="en-US" sz="3849" spc="-37" dirty="0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849" spc="-37" dirty="0" err="1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cartão</a:t>
            </a:r>
            <a:r>
              <a:rPr lang="en-US" sz="3849" spc="-37" dirty="0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849" spc="-37" dirty="0" err="1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na</a:t>
            </a:r>
            <a:r>
              <a:rPr lang="en-US" sz="3849" spc="-37" dirty="0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849" spc="-37" dirty="0" err="1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palma</a:t>
            </a:r>
            <a:r>
              <a:rPr lang="en-US" sz="3849" spc="-37" dirty="0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 da </a:t>
            </a:r>
            <a:r>
              <a:rPr lang="en-US" sz="3849" spc="-37" dirty="0" err="1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mão</a:t>
            </a:r>
            <a:endParaRPr lang="en-US" sz="3849" spc="-37" dirty="0">
              <a:solidFill>
                <a:srgbClr val="FAFAFA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846661" y="7542076"/>
            <a:ext cx="2014339" cy="64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109" spc="-20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DISPONÍVEL NA</a:t>
            </a:r>
          </a:p>
          <a:p>
            <a:pPr algn="l">
              <a:lnSpc>
                <a:spcPts val="2531"/>
              </a:lnSpc>
            </a:pPr>
            <a:r>
              <a:rPr lang="en-US" sz="2109" spc="-20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APP STORE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59652" y="6770625"/>
            <a:ext cx="2538711" cy="713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443" spc="-23">
                <a:solidFill>
                  <a:srgbClr val="FAFAFA"/>
                </a:solidFill>
                <a:latin typeface="Open Sauce"/>
                <a:ea typeface="Open Sauce"/>
                <a:cs typeface="Open Sauce"/>
                <a:sym typeface="Open Sauce"/>
              </a:rPr>
              <a:t>Escaneie e baixe agora mesmo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251</Words>
  <Application>Microsoft Office PowerPoint</Application>
  <PresentationFormat>Personalizar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4" baseType="lpstr">
      <vt:lpstr>Open Sauce Italics</vt:lpstr>
      <vt:lpstr>Open Sauce Semi-Bold Italics</vt:lpstr>
      <vt:lpstr>Open Sauce Bold Italics</vt:lpstr>
      <vt:lpstr>Calibri</vt:lpstr>
      <vt:lpstr>Open Sauce Heavy</vt:lpstr>
      <vt:lpstr>Arial</vt:lpstr>
      <vt:lpstr>Open Sauce</vt:lpstr>
      <vt:lpstr>Open Sauce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Promoção do app Confpay</dc:title>
  <cp:lastModifiedBy>Vitor Balbino Alves Neto</cp:lastModifiedBy>
  <cp:revision>2</cp:revision>
  <dcterms:created xsi:type="dcterms:W3CDTF">2006-08-16T00:00:00Z</dcterms:created>
  <dcterms:modified xsi:type="dcterms:W3CDTF">2026-10-16T18:04:06Z</dcterms:modified>
  <dc:identifier>DAHYMbBxeIY</dc:identifier>
</cp:coreProperties>
</file>